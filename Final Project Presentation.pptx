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D482B-6358-B5A7-EBCB-9CF057F71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82599-3989-18F5-EA0C-FF7D172B2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AE1F4-360E-5104-4E58-F4916C6E0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9F34-BCF5-455F-9E5A-4AC13B57E2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18EAA-1402-B055-B75C-2539DAD8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1C830-495C-29D7-DDFE-2FB157A5A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2A8D-751A-41F5-AAFA-8136C33B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4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73C0-88A3-72B4-DE94-A44B530A7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39F70-E2F8-1FCB-88AE-64167A6CE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F3738-948F-102B-CC5D-910905033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9F34-BCF5-455F-9E5A-4AC13B57E2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1D5DC-60C8-7635-5C55-50E28209F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2D33D-6DD9-1E17-8202-03C192D7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2A8D-751A-41F5-AAFA-8136C33B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8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E3AD4-BC1D-15AF-2E32-3043C1665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EC704-BFA8-EEB2-795E-6070EDA31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11F6B-E59E-52A0-300D-1A091D40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9F34-BCF5-455F-9E5A-4AC13B57E2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46474-B70E-FD75-C154-EE2DC4B13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34F38-794A-E647-1540-55174E74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2A8D-751A-41F5-AAFA-8136C33B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0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C939-760D-666E-889A-0F183A6DF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E800-737F-83A0-37A2-9D886F472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81069-1B1E-B624-E8EA-D7402055B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AF8F0-1015-51E4-91BE-5A41D7FD2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9F34-BCF5-455F-9E5A-4AC13B57E2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F67FA-25C6-DE7A-26B9-A3A54D149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3DB63-6394-CCFC-AC26-75E641F8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2A8D-751A-41F5-AAFA-8136C33B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32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72E3-2967-99A8-704D-29F8F494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9BDF9-5C54-9CCC-6475-73F0225EF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D1804-5103-6854-8A16-89A9453F2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3BB384-E268-ED8F-9622-18737C095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5CEE6C-299A-185D-F614-E1CF9B928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E80797-FBBE-BE59-D0F6-F03D0A5CB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9F34-BCF5-455F-9E5A-4AC13B57E2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461729-F985-608E-F842-AD5A5AEC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78237-2159-6B78-254B-BC71BD6E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2A8D-751A-41F5-AAFA-8136C33B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82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A203-49D9-3C7B-F281-C3A3ACEDC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E73213-C0A5-68C9-6E59-BB6A1F926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9F34-BCF5-455F-9E5A-4AC13B57E2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779D0D-1812-52ED-2733-FB6E8A9B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5345-6A0C-9994-53C5-1025077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2A8D-751A-41F5-AAFA-8136C33B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36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83E2BD-2D27-A817-6B8B-7400B3133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9F34-BCF5-455F-9E5A-4AC13B57E2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AF2B7-E08F-39E4-EA14-81DBCED0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202E1-64B7-4924-5BB4-5679848A7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2A8D-751A-41F5-AAFA-8136C33B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1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88C3-C268-E729-E34E-C6C2FC320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ABEA4-1EB5-7B52-CA6C-E7C29ECF4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07069-BEC8-89FB-AA76-8ACA4C09B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47204-5CB3-719C-AE29-592A0E36C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9F34-BCF5-455F-9E5A-4AC13B57E2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8BA1C-9421-D2BF-5767-A09086B0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FEF85-208A-0C12-BD06-6E20B1357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2A8D-751A-41F5-AAFA-8136C33B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83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37B3-92C1-EDD5-21AE-614A38E7B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52D00F-2DF1-A1D1-7EE9-31B0E9CFE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7B953-946A-A25E-5448-4C12F579A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60E1B-91B2-CEA9-7B80-7DC209268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9F34-BCF5-455F-9E5A-4AC13B57E2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6188C-7408-5E59-7949-CBF9564A7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CBF03-3AC2-A8FC-0BB3-0942FEC8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2A8D-751A-41F5-AAFA-8136C33B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03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E4FBB-A8C9-C70F-5245-B3B57900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89187C-78BE-DC1D-9E49-09A7F12CD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52DE6-3C4E-592A-2870-78E19CB21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9F34-BCF5-455F-9E5A-4AC13B57E2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2B5A1-66C8-AEBA-2B79-842467849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C6974-45D6-D4DB-BC08-1B73469C8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2A8D-751A-41F5-AAFA-8136C33B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52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A11F92-D4B2-FBEE-CEC6-1918775BB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222E8-70DB-5C9B-174D-16B982C50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CEE7D-473A-EC51-36CE-E0BA5CAA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9F34-BCF5-455F-9E5A-4AC13B57E2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E0854-DFFB-E755-BCF2-BD70D9135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D1711-1625-4425-C338-C09DC2637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12A8D-751A-41F5-AAFA-8136C33B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9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52F7EE-9CB3-9269-8CE9-8D246DF22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65FC6-3877-7B49-279C-68221422D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FB42D-5490-90EB-2507-3DEE61185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4D9F34-BCF5-455F-9E5A-4AC13B57E2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05B5B-66DE-45CD-E4C1-D088E8823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D074A-C13C-76B8-702D-CF6A05481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512A8D-751A-41F5-AAFA-8136C33B1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32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5012C7AA-E1CB-5618-76D6-B79889D28066}"/>
              </a:ext>
            </a:extLst>
          </p:cNvPr>
          <p:cNvSpPr/>
          <p:nvPr/>
        </p:nvSpPr>
        <p:spPr>
          <a:xfrm>
            <a:off x="0" y="0"/>
            <a:ext cx="5374105" cy="6858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E94286F8-0188-0E84-0F54-CB7FA240C667}"/>
              </a:ext>
            </a:extLst>
          </p:cNvPr>
          <p:cNvSpPr/>
          <p:nvPr/>
        </p:nvSpPr>
        <p:spPr>
          <a:xfrm rot="10800000">
            <a:off x="6817895" y="0"/>
            <a:ext cx="5374105" cy="6858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9A7E8-35DF-1254-E406-B433AE454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/>
              <a:t>Agile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317C62-5B9A-79AA-255A-F5F338BC61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William Franke</a:t>
            </a:r>
          </a:p>
        </p:txBody>
      </p:sp>
    </p:spTree>
    <p:extLst>
      <p:ext uri="{BB962C8B-B14F-4D97-AF65-F5344CB8AC3E}">
        <p14:creationId xmlns:p14="http://schemas.microsoft.com/office/powerpoint/2010/main" val="37532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onal Stripe 4">
            <a:extLst>
              <a:ext uri="{FF2B5EF4-FFF2-40B4-BE49-F238E27FC236}">
                <a16:creationId xmlns:a16="http://schemas.microsoft.com/office/drawing/2014/main" id="{E93C4CC8-9CB5-0049-3EA6-5760367A4EED}"/>
              </a:ext>
            </a:extLst>
          </p:cNvPr>
          <p:cNvSpPr/>
          <p:nvPr/>
        </p:nvSpPr>
        <p:spPr>
          <a:xfrm rot="10800000">
            <a:off x="7010398" y="2181726"/>
            <a:ext cx="5181601" cy="4676272"/>
          </a:xfrm>
          <a:prstGeom prst="diagStripe">
            <a:avLst>
              <a:gd name="adj" fmla="val 5069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344FAC-F93E-8840-F431-B6210663F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Key Facets of the Scrum-Agile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EF391-AF33-FFB3-6DD9-9182F9C33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0"/>
            <a:ext cx="12192000" cy="56046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The purpose of scrum is to break down large project into smaller more manageable tasks which are completed in short iterations called sprints. There are six principles to scrum.</a:t>
            </a:r>
          </a:p>
          <a:p>
            <a:pPr lvl="1"/>
            <a:r>
              <a:rPr lang="en-US" dirty="0"/>
              <a:t>Control over Empirical Process</a:t>
            </a:r>
          </a:p>
          <a:p>
            <a:pPr lvl="2"/>
            <a:r>
              <a:rPr lang="en-US" dirty="0"/>
              <a:t>Based on the observation of hard evidence over theory, The three main idea of empirical evidence process control are transparency, inspection, and adaptation.</a:t>
            </a:r>
          </a:p>
          <a:p>
            <a:pPr lvl="1"/>
            <a:r>
              <a:rPr lang="en-US" dirty="0"/>
              <a:t>Self-Organization</a:t>
            </a:r>
          </a:p>
          <a:p>
            <a:pPr lvl="2"/>
            <a:r>
              <a:rPr lang="en-US" dirty="0"/>
              <a:t>Since the scrum process relies on so many people, everyone works independently. This principle makes it easier to assess individual contributions.</a:t>
            </a:r>
          </a:p>
          <a:p>
            <a:pPr lvl="1"/>
            <a:r>
              <a:rPr lang="en-US" dirty="0"/>
              <a:t>Collaboration</a:t>
            </a:r>
          </a:p>
          <a:p>
            <a:pPr lvl="2"/>
            <a:r>
              <a:rPr lang="en-US" dirty="0"/>
              <a:t>Collaboration is imperative for success of the project. This principle focuses on three dimensions of collaborations: awareness, articulation, and appropriation.</a:t>
            </a:r>
          </a:p>
          <a:p>
            <a:pPr lvl="1"/>
            <a:r>
              <a:rPr lang="en-US" dirty="0"/>
              <a:t>Value-Based Prioritization</a:t>
            </a:r>
          </a:p>
          <a:p>
            <a:pPr lvl="2"/>
            <a:r>
              <a:rPr lang="en-US" dirty="0"/>
              <a:t>Involves organizing and prioritizing tasks based on their value.</a:t>
            </a:r>
          </a:p>
          <a:p>
            <a:pPr lvl="1"/>
            <a:r>
              <a:rPr lang="en-US" dirty="0"/>
              <a:t>Time-Boxing</a:t>
            </a:r>
          </a:p>
          <a:p>
            <a:pPr lvl="2"/>
            <a:r>
              <a:rPr lang="en-US" dirty="0"/>
              <a:t>Ensures everyone involved know how much time is allocated to each step.</a:t>
            </a:r>
          </a:p>
          <a:p>
            <a:pPr lvl="1"/>
            <a:r>
              <a:rPr lang="en-US" dirty="0"/>
              <a:t>Iterative Development</a:t>
            </a:r>
          </a:p>
          <a:p>
            <a:pPr lvl="2"/>
            <a:r>
              <a:rPr lang="en-US" dirty="0"/>
              <a:t>Allows the team to adjust and manage change easier.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FBB82-3929-D6BE-6D76-548882361DE6}"/>
              </a:ext>
            </a:extLst>
          </p:cNvPr>
          <p:cNvSpPr txBox="1"/>
          <p:nvPr/>
        </p:nvSpPr>
        <p:spPr>
          <a:xfrm>
            <a:off x="10365206" y="262671"/>
            <a:ext cx="1407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r>
              <a:rPr lang="en-US" sz="2000" dirty="0"/>
              <a:t> 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977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CAA46848-EE14-892F-EC7E-13A442CA98D5}"/>
              </a:ext>
            </a:extLst>
          </p:cNvPr>
          <p:cNvSpPr/>
          <p:nvPr/>
        </p:nvSpPr>
        <p:spPr>
          <a:xfrm rot="5400000">
            <a:off x="-28075" y="-24062"/>
            <a:ext cx="1676399" cy="1652337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5868DFB-BCB4-27B9-FC0F-4573B001F27B}"/>
              </a:ext>
            </a:extLst>
          </p:cNvPr>
          <p:cNvSpPr/>
          <p:nvPr/>
        </p:nvSpPr>
        <p:spPr>
          <a:xfrm>
            <a:off x="-8022" y="18255"/>
            <a:ext cx="12191999" cy="683974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6640E-0DB6-7DD2-6E76-7A5C9905A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5358" y="18255"/>
            <a:ext cx="10515600" cy="1325563"/>
          </a:xfrm>
        </p:spPr>
        <p:txBody>
          <a:bodyPr/>
          <a:lstStyle/>
          <a:p>
            <a:r>
              <a:rPr lang="en-US" dirty="0"/>
              <a:t>Agile Team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68845-AB89-76C2-F773-68E5D8751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589" y="1054392"/>
            <a:ext cx="11758863" cy="566725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Scrum Master – A servant leader who supports the scrum team and describes what they do daily.</a:t>
            </a:r>
          </a:p>
          <a:p>
            <a:pPr lvl="1"/>
            <a:r>
              <a:rPr lang="en-US" sz="2000" dirty="0"/>
              <a:t>Support product owner by communicating value, managing backlog, planning the work for the team, and breaking down that work to deliver the most learning.</a:t>
            </a:r>
          </a:p>
          <a:p>
            <a:pPr lvl="1"/>
            <a:r>
              <a:rPr lang="en-US" sz="2000" dirty="0"/>
              <a:t>Supports the development team by self-organizing, focus on outcomes, get to a “done increment”, and manage blockers.</a:t>
            </a:r>
          </a:p>
          <a:p>
            <a:pPr lvl="1"/>
            <a:r>
              <a:rPr lang="en-US" sz="2000" dirty="0"/>
              <a:t>Serves their organization with helping them understand scrum.</a:t>
            </a:r>
          </a:p>
          <a:p>
            <a:r>
              <a:rPr lang="en-US" sz="2400" dirty="0"/>
              <a:t>Product Owner – Understand the customer and business requirements and create and manage the product backlog.</a:t>
            </a:r>
          </a:p>
          <a:p>
            <a:pPr lvl="1"/>
            <a:r>
              <a:rPr lang="en-US" sz="2000" dirty="0"/>
              <a:t>Understand the entire backlog of a project.</a:t>
            </a:r>
          </a:p>
          <a:p>
            <a:pPr lvl="1"/>
            <a:r>
              <a:rPr lang="en-US" sz="2000" dirty="0"/>
              <a:t>Communicate with stakeholders (users, customers, leadership).</a:t>
            </a:r>
          </a:p>
          <a:p>
            <a:pPr lvl="1"/>
            <a:r>
              <a:rPr lang="en-US" sz="2000" dirty="0"/>
              <a:t>Balances feedback from stakeholders and highest priority features for development team.</a:t>
            </a:r>
          </a:p>
          <a:p>
            <a:r>
              <a:rPr lang="en-US" sz="2400" dirty="0"/>
              <a:t>Development Team – Team that does the work, comprised of many different roles (design, software engineer, UI/UX, tester, etc.).</a:t>
            </a:r>
          </a:p>
          <a:p>
            <a:pPr lvl="1"/>
            <a:r>
              <a:rPr lang="en-US" sz="2000" dirty="0"/>
              <a:t>Self-organizing so they can make decisions to get work done.</a:t>
            </a:r>
          </a:p>
          <a:p>
            <a:pPr lvl="1"/>
            <a:r>
              <a:rPr lang="en-US" sz="2000" dirty="0"/>
              <a:t>Deliver work throughout the sprint.</a:t>
            </a:r>
          </a:p>
          <a:p>
            <a:pPr lvl="1"/>
            <a:r>
              <a:rPr lang="en-US" sz="2000" dirty="0"/>
              <a:t>Meet at daily scrum to share updates on work, seek help if needed, and highlight issues or blockers in their daily work.</a:t>
            </a:r>
          </a:p>
          <a:p>
            <a:pPr lvl="1"/>
            <a:endParaRPr lang="en-US" sz="2000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F3B331D-B051-A289-6651-CC88BC96284F}"/>
              </a:ext>
            </a:extLst>
          </p:cNvPr>
          <p:cNvSpPr/>
          <p:nvPr/>
        </p:nvSpPr>
        <p:spPr>
          <a:xfrm rot="10800000">
            <a:off x="10515600" y="-12031"/>
            <a:ext cx="1676399" cy="1652337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0254DE-87CE-1085-1159-164DA619FDB7}"/>
              </a:ext>
            </a:extLst>
          </p:cNvPr>
          <p:cNvSpPr txBox="1"/>
          <p:nvPr/>
        </p:nvSpPr>
        <p:spPr>
          <a:xfrm>
            <a:off x="9908005" y="311704"/>
            <a:ext cx="1215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r>
              <a:rPr lang="en-US" sz="1800" dirty="0"/>
              <a:t> (2)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581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Freeform: Shape 1046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9E0A4-D735-F882-97B5-04244C55F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99" y="0"/>
            <a:ext cx="4784796" cy="496651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/>
              <a:t>Software Development Life-Cycle (SDLC)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497A6-E0CE-219F-5584-37A3559CE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96651"/>
            <a:ext cx="6096000" cy="2903621"/>
          </a:xfrm>
        </p:spPr>
        <p:txBody>
          <a:bodyPr>
            <a:normAutofit fontScale="77500" lnSpcReduction="20000"/>
          </a:bodyPr>
          <a:lstStyle/>
          <a:p>
            <a:r>
              <a:rPr lang="en-US" sz="2000" dirty="0"/>
              <a:t>Planning – Stakeholders and project managers define the software's purpose, scope, and timeline.</a:t>
            </a:r>
          </a:p>
          <a:p>
            <a:r>
              <a:rPr lang="en-US" sz="2000" dirty="0"/>
              <a:t>Analysis – Requirements are analyzed for feasibility and clarity.</a:t>
            </a:r>
          </a:p>
          <a:p>
            <a:r>
              <a:rPr lang="en-US" sz="2000" dirty="0"/>
              <a:t>Design – The software blueprint is created.</a:t>
            </a:r>
          </a:p>
          <a:p>
            <a:r>
              <a:rPr lang="en-US" sz="2000" dirty="0"/>
              <a:t>Implementation – Start coding the software.</a:t>
            </a:r>
          </a:p>
          <a:p>
            <a:r>
              <a:rPr lang="en-US" sz="2000" dirty="0"/>
              <a:t>Testing – Rigorous testing to identify issues/bugs and fixing those issues.</a:t>
            </a:r>
          </a:p>
          <a:p>
            <a:r>
              <a:rPr lang="en-US" sz="2000" dirty="0"/>
              <a:t>Deployment – The software is handed over to the user either fully or in increments.</a:t>
            </a:r>
          </a:p>
          <a:p>
            <a:r>
              <a:rPr lang="en-US" sz="2000" dirty="0"/>
              <a:t>Maintenance – Updates and modifications to the software on a regular basis.</a:t>
            </a:r>
          </a:p>
        </p:txBody>
      </p:sp>
      <p:pic>
        <p:nvPicPr>
          <p:cNvPr id="1028" name="Picture 4" descr="A diagram of software development cycle&#10;&#10;AI-generated content may be incorrect.">
            <a:extLst>
              <a:ext uri="{FF2B5EF4-FFF2-40B4-BE49-F238E27FC236}">
                <a16:creationId xmlns:a16="http://schemas.microsoft.com/office/drawing/2014/main" id="{3ECD968C-A2FD-9DF8-A577-8D610190F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80610" y="1071282"/>
            <a:ext cx="4737650" cy="473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3AADC5-B532-EC56-2594-102E734394DA}"/>
              </a:ext>
            </a:extLst>
          </p:cNvPr>
          <p:cNvSpPr txBox="1"/>
          <p:nvPr/>
        </p:nvSpPr>
        <p:spPr>
          <a:xfrm>
            <a:off x="1143300" y="3200217"/>
            <a:ext cx="5967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How SDLC works with Scrum-Agile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111F-B518-ED7F-6ACB-4E5B12BD12E9}"/>
              </a:ext>
            </a:extLst>
          </p:cNvPr>
          <p:cNvSpPr txBox="1"/>
          <p:nvPr/>
        </p:nvSpPr>
        <p:spPr>
          <a:xfrm>
            <a:off x="128337" y="3543062"/>
            <a:ext cx="59676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Development is broken into timed iterations called sprints that last anywhere from two to four weeks. The number of sprints can vary for each project.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sprint is a mini-SDLC in a condensed time frame.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Sprint Review and Sprint Retrospective happen at the end of the sprint, during the maintenance phase, for continuous improvement.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Sprint Review – Gather feedback from stakeholders and adapt product backlog for future sprints.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Sprint Retrospective – The scrum team reflects on previous sprint to identify what went well, what didn’t, and how to improve future sprints.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99131C-06C6-EEE6-333B-99C358244E78}"/>
              </a:ext>
            </a:extLst>
          </p:cNvPr>
          <p:cNvSpPr txBox="1"/>
          <p:nvPr/>
        </p:nvSpPr>
        <p:spPr>
          <a:xfrm>
            <a:off x="10421218" y="166309"/>
            <a:ext cx="1291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r>
              <a:rPr lang="en-US" sz="1800" dirty="0"/>
              <a:t> (3)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724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8" name="Rectangle 2067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0" name="Freeform: Shape 2069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3984C-02DB-E2FF-D25D-800CE5367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99" y="52335"/>
            <a:ext cx="4784796" cy="75572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Waterfall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E725F-3EE7-849B-DC21-395133ECA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8056"/>
            <a:ext cx="5983705" cy="6049943"/>
          </a:xfrm>
        </p:spPr>
        <p:txBody>
          <a:bodyPr>
            <a:normAutofit/>
          </a:bodyPr>
          <a:lstStyle/>
          <a:p>
            <a:r>
              <a:rPr lang="en-US" sz="2400" dirty="0"/>
              <a:t>The waterfall method has a sequential flow of phases. Once one is completed you can move onto the next phase. This makes it a highly rigid and structured development method.</a:t>
            </a:r>
          </a:p>
          <a:p>
            <a:pPr lvl="1"/>
            <a:r>
              <a:rPr lang="en-US" sz="2000" dirty="0"/>
              <a:t>Pro’s</a:t>
            </a:r>
          </a:p>
          <a:p>
            <a:pPr lvl="2"/>
            <a:r>
              <a:rPr lang="en-US" sz="1600" dirty="0"/>
              <a:t>Since it is a linear development method it is very easy to understand.</a:t>
            </a:r>
          </a:p>
          <a:p>
            <a:pPr lvl="2"/>
            <a:r>
              <a:rPr lang="en-US" sz="1600" dirty="0"/>
              <a:t>Waterfall requires intense documentation before moving on. This helps when moving onto the maintenance phase.</a:t>
            </a:r>
          </a:p>
          <a:p>
            <a:pPr lvl="1"/>
            <a:r>
              <a:rPr lang="en-US" sz="2000" dirty="0"/>
              <a:t>Con’s</a:t>
            </a:r>
          </a:p>
          <a:p>
            <a:pPr lvl="2"/>
            <a:r>
              <a:rPr lang="en-US" sz="1600" dirty="0"/>
              <a:t>Unlike agile, waterfall is one linear development model. This means the team is unable to go back in stages. This makes changing features very hard.</a:t>
            </a:r>
          </a:p>
          <a:p>
            <a:pPr lvl="2"/>
            <a:r>
              <a:rPr lang="en-US" sz="1600" dirty="0"/>
              <a:t>Waterfall does not involve the client until the end of the project. This can lead to misunderstandings and dissatisfaction with the client.</a:t>
            </a:r>
          </a:p>
        </p:txBody>
      </p:sp>
      <p:pic>
        <p:nvPicPr>
          <p:cNvPr id="2050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3152C587-DC8A-64EA-4463-02DBE1174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80610" y="1616113"/>
            <a:ext cx="4737650" cy="364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C9F56F-309F-8942-AB9C-961ED3781720}"/>
              </a:ext>
            </a:extLst>
          </p:cNvPr>
          <p:cNvSpPr txBox="1"/>
          <p:nvPr/>
        </p:nvSpPr>
        <p:spPr>
          <a:xfrm>
            <a:off x="6880610" y="5264102"/>
            <a:ext cx="4737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75000"/>
                  </a:schemeClr>
                </a:solidFill>
              </a:rPr>
              <a:t>Image from https://commons.wikimedia.org/wiki/File:Waterfall_model.png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C7688C-C004-95E8-AA60-7AB110532434}"/>
              </a:ext>
            </a:extLst>
          </p:cNvPr>
          <p:cNvSpPr txBox="1"/>
          <p:nvPr/>
        </p:nvSpPr>
        <p:spPr>
          <a:xfrm>
            <a:off x="10401165" y="283825"/>
            <a:ext cx="1267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r>
              <a:rPr lang="en-US" sz="1800" dirty="0"/>
              <a:t> (4)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017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085E5-78F0-C7CA-9EB7-36966515F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115" y="0"/>
            <a:ext cx="9392421" cy="104274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Waterfall or Agile method</a:t>
            </a:r>
            <a:br>
              <a:rPr lang="en-US" dirty="0"/>
            </a:br>
            <a:r>
              <a:rPr lang="en-US" sz="2000" dirty="0"/>
              <a:t>We have gone over the different development methods, but what is the right choice for your project?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5EDF4-9429-9B6B-CD07-BE018D976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58" y="1317142"/>
            <a:ext cx="6088063" cy="5372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If your project has these characteristics, Agile is the better method for your project.</a:t>
            </a:r>
          </a:p>
          <a:p>
            <a:pPr lvl="1"/>
            <a:r>
              <a:rPr lang="en-US" sz="1600" dirty="0"/>
              <a:t>Requirements are not full known and there is some uncertainty to the project.</a:t>
            </a:r>
          </a:p>
          <a:p>
            <a:pPr lvl="1"/>
            <a:r>
              <a:rPr lang="en-US" sz="1600" dirty="0"/>
              <a:t>Customer wants communication throughout the development process.</a:t>
            </a:r>
          </a:p>
          <a:p>
            <a:pPr lvl="1"/>
            <a:r>
              <a:rPr lang="en-US" sz="1600" dirty="0"/>
              <a:t>Need for incremental features to be delivered.</a:t>
            </a:r>
          </a:p>
          <a:p>
            <a:pPr lvl="1"/>
            <a:r>
              <a:rPr lang="en-US" sz="1600" dirty="0"/>
              <a:t>Agile specializes in breaking down large complex projects.</a:t>
            </a:r>
          </a:p>
          <a:p>
            <a:pPr lvl="1"/>
            <a:endParaRPr lang="en-US" sz="1600" dirty="0"/>
          </a:p>
          <a:p>
            <a:pPr marL="0" indent="0">
              <a:buNone/>
            </a:pPr>
            <a:r>
              <a:rPr lang="en-US" sz="2000" dirty="0"/>
              <a:t>If your project has these characteristics, Waterfall is the better method for your project.</a:t>
            </a:r>
          </a:p>
          <a:p>
            <a:pPr lvl="1"/>
            <a:r>
              <a:rPr lang="en-US" sz="1600" dirty="0"/>
              <a:t>Requirements are clearly defined and will not change.</a:t>
            </a:r>
          </a:p>
          <a:p>
            <a:pPr lvl="1"/>
            <a:r>
              <a:rPr lang="en-US" sz="1600" dirty="0"/>
              <a:t>Customer wants no involvement in the process and wants final product delivered at the end.</a:t>
            </a:r>
          </a:p>
          <a:p>
            <a:pPr lvl="1"/>
            <a:r>
              <a:rPr lang="en-US" sz="1600" dirty="0"/>
              <a:t>Works for large projects but timeline and requirements cannot be changed during development.</a:t>
            </a:r>
          </a:p>
          <a:p>
            <a:pPr lvl="1"/>
            <a:endParaRPr lang="en-US" sz="1600" dirty="0"/>
          </a:p>
        </p:txBody>
      </p:sp>
      <p:pic>
        <p:nvPicPr>
          <p:cNvPr id="3074" name="Picture 2" descr="segue-blog-waterfall-vs-agile-which-is-right-development-methodology-for-your-project">
            <a:extLst>
              <a:ext uri="{FF2B5EF4-FFF2-40B4-BE49-F238E27FC236}">
                <a16:creationId xmlns:a16="http://schemas.microsoft.com/office/drawing/2014/main" id="{2B148A99-FFF4-8471-EF88-216B35489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16462" y="1573488"/>
            <a:ext cx="5582743" cy="4426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Freeform: Shape 308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FAFC0-1871-3644-6360-EACFF6FC9BF9}"/>
              </a:ext>
            </a:extLst>
          </p:cNvPr>
          <p:cNvSpPr txBox="1"/>
          <p:nvPr/>
        </p:nvSpPr>
        <p:spPr>
          <a:xfrm>
            <a:off x="6481011" y="5999747"/>
            <a:ext cx="5478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Image from https://www.seguetech.com/waterfall-vs-agile-methodology/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91698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2D8A0-3AB8-7ADB-9082-C309E58EB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79"/>
            <a:ext cx="10515600" cy="693654"/>
          </a:xfrm>
        </p:spPr>
        <p:txBody>
          <a:bodyPr>
            <a:normAutofit/>
          </a:bodyPr>
          <a:lstStyle/>
          <a:p>
            <a:pPr algn="ctr"/>
            <a:r>
              <a:rPr lang="en-US" sz="3200" b="1" u="sng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8E187-61D8-0093-A31F-B24FB7871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200" dirty="0">
                <a:effectLst/>
              </a:rPr>
              <a:t>Ferreira, A. (2023, October 30). </a:t>
            </a:r>
            <a:r>
              <a:rPr lang="en-US" sz="2200" i="1" dirty="0">
                <a:effectLst/>
              </a:rPr>
              <a:t>Deep Dive: The software development life cycle (SDLC) in Agile Environments | by Alessandro Ferreira | Medium</a:t>
            </a:r>
            <a:r>
              <a:rPr lang="en-US" sz="2200" dirty="0">
                <a:effectLst/>
              </a:rPr>
              <a:t>. Deep Dive: The Software Development Life Cycle (SDLC) in Agile Environments. https://medium.com/@argferreira1/deep-dive-the-software-development-life-cycle-sdlc-in-agile-environments-6b245bbea5ab  (3)</a:t>
            </a:r>
          </a:p>
          <a:p>
            <a:pPr algn="ctr"/>
            <a:r>
              <a:rPr lang="en-US" sz="2200" dirty="0">
                <a:effectLst/>
              </a:rPr>
              <a:t>GeeksforGeeks. (2025, July 23). </a:t>
            </a:r>
            <a:r>
              <a:rPr lang="en-US" sz="2200" i="1" dirty="0">
                <a:effectLst/>
              </a:rPr>
              <a:t>Agile vs waterfall project management</a:t>
            </a:r>
            <a:r>
              <a:rPr lang="en-US" sz="2200" dirty="0">
                <a:effectLst/>
              </a:rPr>
              <a:t>. GeeksforGeeks. https://www.geeksforgeeks.org/software-engineering/agile-vs-waterfall/  (4)</a:t>
            </a:r>
          </a:p>
          <a:p>
            <a:pPr algn="ctr"/>
            <a:r>
              <a:rPr lang="en-US" sz="2200" dirty="0">
                <a:effectLst/>
              </a:rPr>
              <a:t>West, D. (2025). </a:t>
            </a:r>
            <a:r>
              <a:rPr lang="en-US" sz="2200" i="1" dirty="0">
                <a:effectLst/>
              </a:rPr>
              <a:t>Agile scrum roles and Responsibilities</a:t>
            </a:r>
            <a:r>
              <a:rPr lang="en-US" sz="2200" dirty="0">
                <a:effectLst/>
              </a:rPr>
              <a:t>. Atlassian. https://www.atlassian.com/agile/scrum/roles  (2)</a:t>
            </a:r>
          </a:p>
          <a:p>
            <a:pPr algn="ctr"/>
            <a:r>
              <a:rPr lang="en-US" sz="2200" i="1" dirty="0">
                <a:effectLst/>
              </a:rPr>
              <a:t>What is Scrum?</a:t>
            </a:r>
            <a:r>
              <a:rPr lang="en-US" sz="2200" dirty="0">
                <a:effectLst/>
              </a:rPr>
              <a:t>. UAGC. (2025, March 6). https://www.uagc.edu/blog/what-is-scrum  (1)</a:t>
            </a: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498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1004</Words>
  <Application>Microsoft Office PowerPoint</Application>
  <PresentationFormat>Widescreen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Agile Presentation</vt:lpstr>
      <vt:lpstr>Key Facets of the Scrum-Agile Approach</vt:lpstr>
      <vt:lpstr>Agile Team Roles</vt:lpstr>
      <vt:lpstr>Software Development Life-Cycle (SDLC)</vt:lpstr>
      <vt:lpstr>Waterfall Method</vt:lpstr>
      <vt:lpstr>Waterfall or Agile method We have gone over the different development methods, but what is the right choice for your project?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Franke, William</dc:creator>
  <cp:lastModifiedBy>Franke, William</cp:lastModifiedBy>
  <cp:revision>3</cp:revision>
  <dcterms:created xsi:type="dcterms:W3CDTF">2025-12-10T16:06:16Z</dcterms:created>
  <dcterms:modified xsi:type="dcterms:W3CDTF">2025-12-10T21:30:49Z</dcterms:modified>
</cp:coreProperties>
</file>